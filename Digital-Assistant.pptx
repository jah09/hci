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2" r:id="rId6"/>
    <p:sldId id="263" r:id="rId7"/>
    <p:sldId id="265" r:id="rId8"/>
    <p:sldId id="269" r:id="rId9"/>
    <p:sldId id="270" r:id="rId10"/>
    <p:sldId id="271" r:id="rId11"/>
    <p:sldId id="272" r:id="rId12"/>
    <p:sldId id="273" r:id="rId13"/>
    <p:sldId id="274" r:id="rId14"/>
    <p:sldId id="275" r:id="rId15"/>
    <p:sldId id="276" r:id="rId16"/>
    <p:sldId id="27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91" autoAdjust="0"/>
    <p:restoredTop sz="94660"/>
  </p:normalViewPr>
  <p:slideViewPr>
    <p:cSldViewPr snapToGrid="0">
      <p:cViewPr varScale="1">
        <p:scale>
          <a:sx n="74" d="100"/>
          <a:sy n="74" d="100"/>
        </p:scale>
        <p:origin x="5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012E97-7C3A-4E7D-95AF-ABB9284580AC}" type="datetimeFigureOut">
              <a:rPr lang="en-US" smtClean="0"/>
              <a:t>10/19/2021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135804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012E97-7C3A-4E7D-95AF-ABB9284580AC}" type="datetimeFigureOut">
              <a:rPr lang="en-US" smtClean="0"/>
              <a:t>10/19/2021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67655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012E97-7C3A-4E7D-95AF-ABB9284580AC}" type="datetimeFigureOut">
              <a:rPr lang="en-US" smtClean="0"/>
              <a:t>10/19/2021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2346899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012E97-7C3A-4E7D-95AF-ABB9284580AC}" type="datetimeFigureOut">
              <a:rPr lang="en-US" smtClean="0"/>
              <a:t>10/19/2021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611540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012E97-7C3A-4E7D-95AF-ABB9284580AC}" type="datetimeFigureOut">
              <a:rPr lang="en-US" smtClean="0"/>
              <a:t>10/19/2021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169333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012E97-7C3A-4E7D-95AF-ABB9284580AC}" type="datetimeFigureOut">
              <a:rPr lang="en-US" smtClean="0"/>
              <a:t>10/19/2021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164618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012E97-7C3A-4E7D-95AF-ABB9284580AC}" type="datetimeFigureOut">
              <a:rPr lang="en-US" smtClean="0"/>
              <a:t>10/19/2021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4078400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012E97-7C3A-4E7D-95AF-ABB9284580AC}" type="datetimeFigureOut">
              <a:rPr lang="en-US" smtClean="0"/>
              <a:t>10/19/2021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2312287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012E97-7C3A-4E7D-95AF-ABB9284580AC}" type="datetimeFigureOut">
              <a:rPr lang="en-US" smtClean="0"/>
              <a:t>10/19/2021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3508611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012E97-7C3A-4E7D-95AF-ABB9284580AC}" type="datetimeFigureOut">
              <a:rPr lang="en-US" smtClean="0"/>
              <a:t>10/19/2021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1050762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012E97-7C3A-4E7D-95AF-ABB9284580AC}" type="datetimeFigureOut">
              <a:rPr lang="en-US" smtClean="0"/>
              <a:t>10/19/2021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1C0059-F8D7-4911-9142-0A95BC6C82AD}" type="slidenum">
              <a:rPr lang="en-US" smtClean="0"/>
              <a:t>‹#›</a:t>
            </a:fld>
            <a:endParaRPr lang="en-US"/>
          </a:p>
        </p:txBody>
      </p:sp>
    </p:spTree>
    <p:extLst>
      <p:ext uri="{BB962C8B-B14F-4D97-AF65-F5344CB8AC3E}">
        <p14:creationId xmlns:p14="http://schemas.microsoft.com/office/powerpoint/2010/main" val="1692139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12E97-7C3A-4E7D-95AF-ABB9284580AC}" type="datetimeFigureOut">
              <a:rPr lang="en-US" smtClean="0"/>
              <a:t>10/19/2021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1C0059-F8D7-4911-9142-0A95BC6C82AD}" type="slidenum">
              <a:rPr lang="en-US" smtClean="0"/>
              <a:t>‹#›</a:t>
            </a:fld>
            <a:endParaRPr lang="en-US"/>
          </a:p>
        </p:txBody>
      </p:sp>
    </p:spTree>
    <p:extLst>
      <p:ext uri="{BB962C8B-B14F-4D97-AF65-F5344CB8AC3E}">
        <p14:creationId xmlns:p14="http://schemas.microsoft.com/office/powerpoint/2010/main" val="1815075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Samsung_Electronics"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hyperlink" Target="https://www.digitaltrends.com/mobile/samsung-bixby-voice-rap-news/" TargetMode="External"/><Relationship Id="rId4" Type="http://schemas.openxmlformats.org/officeDocument/2006/relationships/hyperlink" Target="https://www.samsung.com/global/galaxy/apps/bixby/voi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www.samsung.com/global/galaxy/apps/bixby/hom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www.samsung.com/global/galaxy/apps/bixby/vision/"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ornhub intro - Panzoi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6" y="0"/>
            <a:ext cx="12220136"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63372" y="689318"/>
            <a:ext cx="7751298" cy="707886"/>
          </a:xfrm>
          <a:prstGeom prst="rect">
            <a:avLst/>
          </a:prstGeom>
          <a:noFill/>
        </p:spPr>
        <p:txBody>
          <a:bodyPr wrap="square" rtlCol="0">
            <a:spAutoFit/>
          </a:bodyPr>
          <a:lstStyle/>
          <a:p>
            <a:r>
              <a:rPr lang="en-US" sz="4000" b="1" dirty="0" smtClean="0">
                <a:solidFill>
                  <a:schemeClr val="bg1"/>
                </a:solidFill>
                <a:latin typeface="Century" panose="02040604050505020304" pitchFamily="18" charset="0"/>
              </a:rPr>
              <a:t>BIXBY- DIGITAL ASSISSTANT</a:t>
            </a:r>
            <a:endParaRPr lang="en-US" sz="4000" b="1" dirty="0">
              <a:solidFill>
                <a:schemeClr val="bg1"/>
              </a:solidFill>
              <a:latin typeface="Century" panose="02040604050505020304" pitchFamily="18" charset="0"/>
            </a:endParaRPr>
          </a:p>
        </p:txBody>
      </p:sp>
      <p:sp>
        <p:nvSpPr>
          <p:cNvPr id="3" name="TextBox 2"/>
          <p:cNvSpPr txBox="1"/>
          <p:nvPr/>
        </p:nvSpPr>
        <p:spPr>
          <a:xfrm>
            <a:off x="8961120" y="5331655"/>
            <a:ext cx="3685735" cy="1200329"/>
          </a:xfrm>
          <a:prstGeom prst="rect">
            <a:avLst/>
          </a:prstGeom>
          <a:noFill/>
        </p:spPr>
        <p:txBody>
          <a:bodyPr wrap="square" rtlCol="0">
            <a:spAutoFit/>
          </a:bodyPr>
          <a:lstStyle/>
          <a:p>
            <a:r>
              <a:rPr lang="en-US" sz="2400" dirty="0" smtClean="0">
                <a:solidFill>
                  <a:schemeClr val="bg1"/>
                </a:solidFill>
                <a:latin typeface="Century" panose="02040604050505020304" pitchFamily="18" charset="0"/>
              </a:rPr>
              <a:t>Ezekiel </a:t>
            </a:r>
            <a:r>
              <a:rPr lang="en-US" sz="2400" dirty="0" err="1" smtClean="0">
                <a:solidFill>
                  <a:schemeClr val="bg1"/>
                </a:solidFill>
                <a:latin typeface="Century" panose="02040604050505020304" pitchFamily="18" charset="0"/>
              </a:rPr>
              <a:t>Villadolid</a:t>
            </a:r>
            <a:endParaRPr lang="en-US" sz="2400" dirty="0" smtClean="0">
              <a:solidFill>
                <a:schemeClr val="bg1"/>
              </a:solidFill>
              <a:latin typeface="Century" panose="02040604050505020304" pitchFamily="18" charset="0"/>
            </a:endParaRPr>
          </a:p>
          <a:p>
            <a:r>
              <a:rPr lang="en-US" sz="2400" dirty="0" smtClean="0">
                <a:solidFill>
                  <a:schemeClr val="bg1"/>
                </a:solidFill>
                <a:latin typeface="Century" panose="02040604050505020304" pitchFamily="18" charset="0"/>
              </a:rPr>
              <a:t>John Richard Reyes</a:t>
            </a:r>
          </a:p>
          <a:p>
            <a:r>
              <a:rPr lang="en-US" sz="2400" dirty="0" err="1" smtClean="0">
                <a:solidFill>
                  <a:schemeClr val="bg1"/>
                </a:solidFill>
                <a:latin typeface="Century" panose="02040604050505020304" pitchFamily="18" charset="0"/>
              </a:rPr>
              <a:t>Jeahael</a:t>
            </a:r>
            <a:r>
              <a:rPr lang="en-US" sz="2400" dirty="0" smtClean="0">
                <a:solidFill>
                  <a:schemeClr val="bg1"/>
                </a:solidFill>
                <a:latin typeface="Century" panose="02040604050505020304" pitchFamily="18" charset="0"/>
              </a:rPr>
              <a:t> </a:t>
            </a:r>
            <a:r>
              <a:rPr lang="en-US" sz="2400" dirty="0" err="1" smtClean="0">
                <a:solidFill>
                  <a:schemeClr val="bg1"/>
                </a:solidFill>
                <a:latin typeface="Century" panose="02040604050505020304" pitchFamily="18" charset="0"/>
              </a:rPr>
              <a:t>Suhot</a:t>
            </a:r>
            <a:endParaRPr lang="en-US" sz="2400" dirty="0">
              <a:solidFill>
                <a:schemeClr val="bg1"/>
              </a:solidFill>
              <a:latin typeface="Century" panose="02040604050505020304" pitchFamily="18" charset="0"/>
            </a:endParaRPr>
          </a:p>
        </p:txBody>
      </p:sp>
    </p:spTree>
    <p:extLst>
      <p:ext uri="{BB962C8B-B14F-4D97-AF65-F5344CB8AC3E}">
        <p14:creationId xmlns:p14="http://schemas.microsoft.com/office/powerpoint/2010/main" val="20158881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5" name="AutoShape 2" descr="PowerPoint community (Pornhub intro with PowerPoint TEXT)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PowerPoint community (Pornhub intro with PowerPoint TEXT) - YouTube"/>
          <p:cNvSpPr>
            <a:spLocks noChangeAspect="1" noChangeArrowheads="1"/>
          </p:cNvSpPr>
          <p:nvPr/>
        </p:nvSpPr>
        <p:spPr bwMode="auto">
          <a:xfrm>
            <a:off x="307974" y="7937"/>
            <a:ext cx="4611755" cy="46117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9" name="TextBox 8"/>
          <p:cNvSpPr txBox="1"/>
          <p:nvPr/>
        </p:nvSpPr>
        <p:spPr>
          <a:xfrm>
            <a:off x="8910032" y="511878"/>
            <a:ext cx="2384739" cy="830997"/>
          </a:xfrm>
          <a:prstGeom prst="rect">
            <a:avLst/>
          </a:prstGeom>
          <a:noFill/>
        </p:spPr>
        <p:txBody>
          <a:bodyPr wrap="square" rtlCol="0">
            <a:spAutoFit/>
          </a:bodyPr>
          <a:lstStyle/>
          <a:p>
            <a:r>
              <a:rPr lang="en-US" sz="4800" dirty="0" smtClean="0">
                <a:latin typeface="Century Schoolbook" panose="02040604050505020304" pitchFamily="18" charset="0"/>
              </a:rPr>
              <a:t>BIXBY</a:t>
            </a:r>
          </a:p>
        </p:txBody>
      </p:sp>
      <p:pic>
        <p:nvPicPr>
          <p:cNvPr id="8202" name="Picture 10" descr="Bixby Voice 3.1.36.0 for Android -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3320" y="160338"/>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6863320" y="2472744"/>
            <a:ext cx="5139790" cy="3693319"/>
          </a:xfrm>
          <a:prstGeom prst="rect">
            <a:avLst/>
          </a:prstGeom>
          <a:noFill/>
        </p:spPr>
        <p:txBody>
          <a:bodyPr wrap="square" rtlCol="0">
            <a:spAutoFit/>
          </a:bodyPr>
          <a:lstStyle/>
          <a:p>
            <a:r>
              <a:rPr lang="en-US" dirty="0" smtClean="0"/>
              <a:t>-Bixby </a:t>
            </a:r>
            <a:r>
              <a:rPr lang="en-US" dirty="0"/>
              <a:t>is the Samsung intelligence assistant first introduced on the Galaxy S8 and S8</a:t>
            </a:r>
            <a:r>
              <a:rPr lang="en-US" dirty="0" smtClean="0"/>
              <a:t>+.</a:t>
            </a:r>
          </a:p>
          <a:p>
            <a:pPr marL="285750" indent="-285750">
              <a:buFontTx/>
              <a:buChar char="-"/>
            </a:pPr>
            <a:r>
              <a:rPr lang="en-US" dirty="0" smtClean="0"/>
              <a:t>It's </a:t>
            </a:r>
            <a:r>
              <a:rPr lang="en-US" dirty="0"/>
              <a:t>deeply integrated into the phone, meaning that Bixby is able to carry out a lot of the tasks you do on your phone</a:t>
            </a:r>
            <a:r>
              <a:rPr lang="en-US" dirty="0" smtClean="0"/>
              <a:t>.</a:t>
            </a:r>
          </a:p>
          <a:p>
            <a:r>
              <a:rPr lang="en-US" dirty="0" smtClean="0"/>
              <a:t>-</a:t>
            </a:r>
            <a:r>
              <a:rPr lang="en-US" dirty="0"/>
              <a:t>Bixby is available on Galaxy S20, S20+, S20 Ultra, Note10, Note10+, S10e, S10, S10+, Fold, Note9, S9, S9+, Note9, S8, and S8</a:t>
            </a:r>
            <a:r>
              <a:rPr lang="en-US" dirty="0" smtClean="0"/>
              <a:t>+.</a:t>
            </a:r>
          </a:p>
          <a:p>
            <a:r>
              <a:rPr lang="en-US" dirty="0" smtClean="0"/>
              <a:t>-B</a:t>
            </a:r>
            <a:r>
              <a:rPr lang="en-US" dirty="0"/>
              <a:t>ixby service availability may vary depending on country; Bixby recognizes selected languages and certain </a:t>
            </a:r>
            <a:r>
              <a:rPr lang="en-US" dirty="0" smtClean="0"/>
              <a:t>accents/dialects</a:t>
            </a:r>
          </a:p>
          <a:p>
            <a:r>
              <a:rPr lang="en-US" dirty="0" smtClean="0"/>
              <a:t>-</a:t>
            </a:r>
            <a:r>
              <a:rPr lang="en-US" dirty="0"/>
              <a:t>user interface may change and differ by device</a:t>
            </a:r>
            <a:endParaRPr lang="en-US" dirty="0" smtClean="0"/>
          </a:p>
          <a:p>
            <a:endParaRPr lang="en-US" dirty="0"/>
          </a:p>
        </p:txBody>
      </p:sp>
    </p:spTree>
    <p:extLst>
      <p:ext uri="{BB962C8B-B14F-4D97-AF65-F5344CB8AC3E}">
        <p14:creationId xmlns:p14="http://schemas.microsoft.com/office/powerpoint/2010/main" val="3833278708"/>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6" name="TextBox 5"/>
          <p:cNvSpPr txBox="1"/>
          <p:nvPr/>
        </p:nvSpPr>
        <p:spPr>
          <a:xfrm>
            <a:off x="6555545" y="239151"/>
            <a:ext cx="1561513" cy="400110"/>
          </a:xfrm>
          <a:prstGeom prst="rect">
            <a:avLst/>
          </a:prstGeom>
          <a:noFill/>
        </p:spPr>
        <p:txBody>
          <a:bodyPr wrap="square" rtlCol="0">
            <a:spAutoFit/>
          </a:bodyPr>
          <a:lstStyle/>
          <a:p>
            <a:r>
              <a:rPr lang="en-US" sz="2000" b="1" dirty="0" smtClean="0">
                <a:latin typeface="Century Schoolbook" panose="02040604050505020304" pitchFamily="18" charset="0"/>
              </a:rPr>
              <a:t>Cont’d</a:t>
            </a:r>
            <a:endParaRPr lang="en-US" sz="2000" b="1" dirty="0">
              <a:latin typeface="Century Schoolbook" panose="02040604050505020304" pitchFamily="18" charset="0"/>
            </a:endParaRPr>
          </a:p>
        </p:txBody>
      </p:sp>
      <p:sp>
        <p:nvSpPr>
          <p:cNvPr id="7" name="TextBox 6"/>
          <p:cNvSpPr txBox="1"/>
          <p:nvPr/>
        </p:nvSpPr>
        <p:spPr>
          <a:xfrm>
            <a:off x="6555545" y="801858"/>
            <a:ext cx="5528603" cy="1754326"/>
          </a:xfrm>
          <a:prstGeom prst="rect">
            <a:avLst/>
          </a:prstGeom>
          <a:noFill/>
        </p:spPr>
        <p:txBody>
          <a:bodyPr wrap="square" rtlCol="0">
            <a:spAutoFit/>
          </a:bodyPr>
          <a:lstStyle/>
          <a:p>
            <a:r>
              <a:rPr lang="en-US" dirty="0" smtClean="0"/>
              <a:t>-availability </a:t>
            </a:r>
            <a:r>
              <a:rPr lang="en-US" dirty="0"/>
              <a:t>of Bixby features and content providers may vary depending on country/carrier/language/device model/OS </a:t>
            </a:r>
            <a:r>
              <a:rPr lang="en-US" dirty="0" smtClean="0"/>
              <a:t>version</a:t>
            </a:r>
          </a:p>
          <a:p>
            <a:r>
              <a:rPr lang="en-US" dirty="0" smtClean="0"/>
              <a:t>-</a:t>
            </a:r>
            <a:r>
              <a:rPr lang="en-US" dirty="0"/>
              <a:t>Samsung Account log-in and data network connection (Wi-Fi or data network) </a:t>
            </a:r>
            <a:r>
              <a:rPr lang="en-US" dirty="0" smtClean="0"/>
              <a:t>required</a:t>
            </a:r>
          </a:p>
          <a:p>
            <a:r>
              <a:rPr lang="en-US" dirty="0" smtClean="0"/>
              <a:t>-</a:t>
            </a:r>
            <a:r>
              <a:rPr lang="en-US" dirty="0"/>
              <a:t>Bixby controls selected apps, other apps to be supported</a:t>
            </a:r>
          </a:p>
        </p:txBody>
      </p:sp>
      <p:sp>
        <p:nvSpPr>
          <p:cNvPr id="8" name="TextBox 7"/>
          <p:cNvSpPr txBox="1"/>
          <p:nvPr/>
        </p:nvSpPr>
        <p:spPr>
          <a:xfrm>
            <a:off x="6555545" y="2556184"/>
            <a:ext cx="5416061" cy="3139321"/>
          </a:xfrm>
          <a:prstGeom prst="rect">
            <a:avLst/>
          </a:prstGeom>
          <a:noFill/>
        </p:spPr>
        <p:txBody>
          <a:bodyPr wrap="square" rtlCol="0">
            <a:spAutoFit/>
          </a:bodyPr>
          <a:lstStyle/>
          <a:p>
            <a:r>
              <a:rPr lang="en-US" dirty="0" smtClean="0"/>
              <a:t>-Bixby</a:t>
            </a:r>
            <a:r>
              <a:rPr lang="en-US" dirty="0"/>
              <a:t> is a </a:t>
            </a:r>
            <a:r>
              <a:rPr lang="en-US" dirty="0" smtClean="0"/>
              <a:t>virtual assistant</a:t>
            </a:r>
            <a:r>
              <a:rPr lang="en-US" dirty="0"/>
              <a:t> developed by </a:t>
            </a:r>
            <a:r>
              <a:rPr lang="en-US" dirty="0">
                <a:hlinkClick r:id="rId3" tooltip="Samsung Electronics"/>
              </a:rPr>
              <a:t>Samsung Electronics</a:t>
            </a:r>
            <a:r>
              <a:rPr lang="en-US" dirty="0" smtClean="0"/>
              <a:t>.</a:t>
            </a:r>
            <a:r>
              <a:rPr lang="en-US" dirty="0"/>
              <a:t> </a:t>
            </a:r>
            <a:endParaRPr lang="en-US" dirty="0" smtClean="0"/>
          </a:p>
          <a:p>
            <a:r>
              <a:rPr lang="en-US" dirty="0" smtClean="0"/>
              <a:t>-</a:t>
            </a:r>
            <a:r>
              <a:rPr lang="en-US" dirty="0"/>
              <a:t>On 20 March 2017, Samsung announced the voice-powered digital assistant named "Bixby.</a:t>
            </a:r>
            <a:endParaRPr lang="en-US" dirty="0" smtClean="0"/>
          </a:p>
          <a:p>
            <a:r>
              <a:rPr lang="en-US" dirty="0" smtClean="0"/>
              <a:t>-</a:t>
            </a:r>
            <a:r>
              <a:rPr lang="en-US" dirty="0"/>
              <a:t>In October 2017, Samsung announced the release of Bixby 2.0 during its annual developer conference in San Francisco. </a:t>
            </a:r>
            <a:endParaRPr lang="en-US" dirty="0" smtClean="0"/>
          </a:p>
          <a:p>
            <a:r>
              <a:rPr lang="en-US" dirty="0" smtClean="0"/>
              <a:t>-Press and hold the Bixby button to talk to Bixby in a natural way, like a friend.</a:t>
            </a:r>
          </a:p>
          <a:p>
            <a:r>
              <a:rPr lang="en-US" dirty="0"/>
              <a:t>-</a:t>
            </a:r>
            <a:r>
              <a:rPr lang="en-US" dirty="0" smtClean="0"/>
              <a:t> You can ask Bixby to tell you things such as the weather, or what your next appointment is.</a:t>
            </a:r>
            <a:endParaRPr lang="en-US" dirty="0"/>
          </a:p>
        </p:txBody>
      </p:sp>
    </p:spTree>
    <p:extLst>
      <p:ext uri="{BB962C8B-B14F-4D97-AF65-F5344CB8AC3E}">
        <p14:creationId xmlns:p14="http://schemas.microsoft.com/office/powerpoint/2010/main" val="1410031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7" name="TextBox 6"/>
          <p:cNvSpPr txBox="1"/>
          <p:nvPr/>
        </p:nvSpPr>
        <p:spPr>
          <a:xfrm>
            <a:off x="6568225" y="1160169"/>
            <a:ext cx="5576552" cy="923330"/>
          </a:xfrm>
          <a:prstGeom prst="rect">
            <a:avLst/>
          </a:prstGeom>
          <a:noFill/>
        </p:spPr>
        <p:txBody>
          <a:bodyPr wrap="square" rtlCol="0">
            <a:spAutoFit/>
          </a:bodyPr>
          <a:lstStyle/>
          <a:p>
            <a:r>
              <a:rPr lang="en-US" dirty="0" smtClean="0">
                <a:latin typeface="Century" panose="02040604050505020304" pitchFamily="18" charset="0"/>
              </a:rPr>
              <a:t>The Bixby have 3 incarnations of </a:t>
            </a:r>
            <a:r>
              <a:rPr lang="en-US" dirty="0">
                <a:latin typeface="Century" panose="02040604050505020304" pitchFamily="18" charset="0"/>
              </a:rPr>
              <a:t>Samsung’s Assistant: Bixby Home, Bixby Vision, and Bixby Voice. </a:t>
            </a:r>
          </a:p>
        </p:txBody>
      </p:sp>
      <p:sp>
        <p:nvSpPr>
          <p:cNvPr id="8" name="TextBox 7"/>
          <p:cNvSpPr txBox="1"/>
          <p:nvPr/>
        </p:nvSpPr>
        <p:spPr>
          <a:xfrm>
            <a:off x="6568225" y="206062"/>
            <a:ext cx="4185634" cy="954107"/>
          </a:xfrm>
          <a:prstGeom prst="rect">
            <a:avLst/>
          </a:prstGeom>
          <a:noFill/>
        </p:spPr>
        <p:txBody>
          <a:bodyPr wrap="square" rtlCol="0">
            <a:spAutoFit/>
          </a:bodyPr>
          <a:lstStyle/>
          <a:p>
            <a:r>
              <a:rPr lang="en-US" sz="2800" dirty="0" smtClean="0">
                <a:latin typeface="Century" panose="02040604050505020304" pitchFamily="18" charset="0"/>
              </a:rPr>
              <a:t>How to Use Bixby:</a:t>
            </a:r>
          </a:p>
          <a:p>
            <a:endParaRPr lang="en-US" sz="2800" dirty="0"/>
          </a:p>
        </p:txBody>
      </p:sp>
      <p:sp>
        <p:nvSpPr>
          <p:cNvPr id="9" name="TextBox 8"/>
          <p:cNvSpPr txBox="1"/>
          <p:nvPr/>
        </p:nvSpPr>
        <p:spPr>
          <a:xfrm>
            <a:off x="8448541" y="2228671"/>
            <a:ext cx="1571737" cy="1200329"/>
          </a:xfrm>
          <a:prstGeom prst="rect">
            <a:avLst/>
          </a:prstGeom>
          <a:noFill/>
        </p:spPr>
        <p:txBody>
          <a:bodyPr wrap="square" rtlCol="0">
            <a:spAutoFit/>
          </a:bodyPr>
          <a:lstStyle/>
          <a:p>
            <a:r>
              <a:rPr lang="en-US" b="1" u="sng" dirty="0" smtClean="0">
                <a:latin typeface="Century" panose="02040604050505020304" pitchFamily="18" charset="0"/>
              </a:rPr>
              <a:t>Bixby Voice</a:t>
            </a:r>
          </a:p>
          <a:p>
            <a:endParaRPr lang="en-US" b="1" u="sng" dirty="0" smtClean="0"/>
          </a:p>
          <a:p>
            <a:endParaRPr lang="en-US" dirty="0"/>
          </a:p>
          <a:p>
            <a:endParaRPr lang="en-US" dirty="0"/>
          </a:p>
        </p:txBody>
      </p:sp>
      <p:pic>
        <p:nvPicPr>
          <p:cNvPr id="5122" name="Picture 2" descr="note 9 bixb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81115" y="2601287"/>
            <a:ext cx="1557314" cy="82771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568225" y="3902299"/>
            <a:ext cx="5409127" cy="2308324"/>
          </a:xfrm>
          <a:prstGeom prst="rect">
            <a:avLst/>
          </a:prstGeom>
          <a:noFill/>
        </p:spPr>
        <p:txBody>
          <a:bodyPr wrap="square" rtlCol="0">
            <a:spAutoFit/>
          </a:bodyPr>
          <a:lstStyle/>
          <a:p>
            <a:r>
              <a:rPr lang="en-US" dirty="0">
                <a:hlinkClick r:id="rId4"/>
              </a:rPr>
              <a:t>Bixby Voice</a:t>
            </a:r>
            <a:r>
              <a:rPr lang="en-US" dirty="0"/>
              <a:t> is like </a:t>
            </a:r>
            <a:r>
              <a:rPr lang="en-US" dirty="0" err="1"/>
              <a:t>Siri</a:t>
            </a:r>
            <a:r>
              <a:rPr lang="en-US" dirty="0"/>
              <a:t> on steroids — in fact, </a:t>
            </a:r>
            <a:r>
              <a:rPr lang="en-US" dirty="0">
                <a:hlinkClick r:id="rId5"/>
              </a:rPr>
              <a:t>it can rap insults at </a:t>
            </a:r>
            <a:r>
              <a:rPr lang="en-US" dirty="0" err="1">
                <a:hlinkClick r:id="rId5"/>
              </a:rPr>
              <a:t>Siri</a:t>
            </a:r>
            <a:r>
              <a:rPr lang="en-US" dirty="0"/>
              <a:t> in Korean. Not only that — it’s also built to adapt to a person’s manner of speaking rather than the other way around</a:t>
            </a:r>
            <a:r>
              <a:rPr lang="en-US" dirty="0" smtClean="0"/>
              <a:t>.</a:t>
            </a:r>
          </a:p>
          <a:p>
            <a:r>
              <a:rPr lang="en-US" dirty="0" smtClean="0"/>
              <a:t>-</a:t>
            </a:r>
            <a:r>
              <a:rPr lang="en-US" dirty="0"/>
              <a:t>According to Samsung, the assistant will be able to understand “Show me today’s weather,” “What’s the weather like today?,” or “What’s the forecast today?” — all variations of the same command.</a:t>
            </a:r>
          </a:p>
        </p:txBody>
      </p:sp>
    </p:spTree>
    <p:extLst>
      <p:ext uri="{BB962C8B-B14F-4D97-AF65-F5344CB8AC3E}">
        <p14:creationId xmlns:p14="http://schemas.microsoft.com/office/powerpoint/2010/main" val="234157212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7" name="TextBox 6"/>
          <p:cNvSpPr txBox="1"/>
          <p:nvPr/>
        </p:nvSpPr>
        <p:spPr>
          <a:xfrm>
            <a:off x="6555545" y="239151"/>
            <a:ext cx="1561513" cy="400110"/>
          </a:xfrm>
          <a:prstGeom prst="rect">
            <a:avLst/>
          </a:prstGeom>
          <a:noFill/>
        </p:spPr>
        <p:txBody>
          <a:bodyPr wrap="square" rtlCol="0">
            <a:spAutoFit/>
          </a:bodyPr>
          <a:lstStyle/>
          <a:p>
            <a:r>
              <a:rPr lang="en-US" sz="2000" b="1" dirty="0" smtClean="0">
                <a:latin typeface="Century Schoolbook" panose="02040604050505020304" pitchFamily="18" charset="0"/>
              </a:rPr>
              <a:t>Cont’d</a:t>
            </a:r>
            <a:endParaRPr lang="en-US" sz="2000" b="1" dirty="0">
              <a:latin typeface="Century Schoolbook" panose="02040604050505020304" pitchFamily="18" charset="0"/>
            </a:endParaRPr>
          </a:p>
        </p:txBody>
      </p:sp>
      <p:sp>
        <p:nvSpPr>
          <p:cNvPr id="8" name="TextBox 7"/>
          <p:cNvSpPr txBox="1"/>
          <p:nvPr/>
        </p:nvSpPr>
        <p:spPr>
          <a:xfrm>
            <a:off x="6555545" y="850006"/>
            <a:ext cx="5486201" cy="2031325"/>
          </a:xfrm>
          <a:prstGeom prst="rect">
            <a:avLst/>
          </a:prstGeom>
          <a:noFill/>
        </p:spPr>
        <p:txBody>
          <a:bodyPr wrap="square" rtlCol="0">
            <a:spAutoFit/>
          </a:bodyPr>
          <a:lstStyle/>
          <a:p>
            <a:r>
              <a:rPr lang="en-US" dirty="0" smtClean="0">
                <a:latin typeface="Century" panose="02040604050505020304" pitchFamily="18" charset="0"/>
              </a:rPr>
              <a:t>-</a:t>
            </a:r>
            <a:r>
              <a:rPr lang="en-US" dirty="0">
                <a:latin typeface="Century" panose="02040604050505020304" pitchFamily="18" charset="0"/>
              </a:rPr>
              <a:t>You can activate it by saying, “Hey, Bixby,” or by holding down the Bixby button while you </a:t>
            </a:r>
            <a:r>
              <a:rPr lang="en-US" dirty="0" smtClean="0">
                <a:latin typeface="Century" panose="02040604050505020304" pitchFamily="18" charset="0"/>
              </a:rPr>
              <a:t>talk.</a:t>
            </a:r>
          </a:p>
          <a:p>
            <a:r>
              <a:rPr lang="en-US" dirty="0" smtClean="0">
                <a:latin typeface="Century" panose="02040604050505020304" pitchFamily="18" charset="0"/>
              </a:rPr>
              <a:t>-</a:t>
            </a:r>
            <a:r>
              <a:rPr lang="en-US" dirty="0">
                <a:latin typeface="Century" panose="02040604050505020304" pitchFamily="18" charset="0"/>
              </a:rPr>
              <a:t>If you don’t want to look like you’re talking to your phone in public, you can talk to Bixby by holding your phone up to your ear, like a phone call</a:t>
            </a:r>
            <a:r>
              <a:rPr lang="en-US" dirty="0" smtClean="0">
                <a:latin typeface="Century" panose="02040604050505020304" pitchFamily="18" charset="0"/>
              </a:rPr>
              <a:t>.</a:t>
            </a:r>
          </a:p>
          <a:p>
            <a:endParaRPr lang="en-US" dirty="0">
              <a:latin typeface="Century" panose="02040604050505020304" pitchFamily="18" charset="0"/>
            </a:endParaRPr>
          </a:p>
        </p:txBody>
      </p:sp>
      <p:pic>
        <p:nvPicPr>
          <p:cNvPr id="4098" name="Picture 2" descr="samsung galaxy note 8 review hands 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3142" y="3092076"/>
            <a:ext cx="1554480" cy="103632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8613142" y="2548778"/>
            <a:ext cx="2817105" cy="369332"/>
          </a:xfrm>
          <a:prstGeom prst="rect">
            <a:avLst/>
          </a:prstGeom>
          <a:noFill/>
        </p:spPr>
        <p:txBody>
          <a:bodyPr wrap="square" rtlCol="0">
            <a:spAutoFit/>
          </a:bodyPr>
          <a:lstStyle/>
          <a:p>
            <a:r>
              <a:rPr lang="en-US" b="1" u="sng" dirty="0" smtClean="0">
                <a:latin typeface="Century" panose="02040604050505020304" pitchFamily="18" charset="0"/>
              </a:rPr>
              <a:t>Bixby Home</a:t>
            </a:r>
            <a:endParaRPr lang="en-US" b="1" u="sng" dirty="0">
              <a:latin typeface="Century" panose="02040604050505020304" pitchFamily="18" charset="0"/>
            </a:endParaRPr>
          </a:p>
        </p:txBody>
      </p:sp>
      <p:sp>
        <p:nvSpPr>
          <p:cNvPr id="11" name="TextBox 10"/>
          <p:cNvSpPr txBox="1"/>
          <p:nvPr/>
        </p:nvSpPr>
        <p:spPr>
          <a:xfrm>
            <a:off x="6722772" y="4520485"/>
            <a:ext cx="5125791" cy="1477328"/>
          </a:xfrm>
          <a:prstGeom prst="rect">
            <a:avLst/>
          </a:prstGeom>
          <a:noFill/>
        </p:spPr>
        <p:txBody>
          <a:bodyPr wrap="square" rtlCol="0">
            <a:spAutoFit/>
          </a:bodyPr>
          <a:lstStyle/>
          <a:p>
            <a:r>
              <a:rPr lang="en-US" dirty="0"/>
              <a:t>Samsung calls </a:t>
            </a:r>
            <a:r>
              <a:rPr lang="en-US" dirty="0">
                <a:hlinkClick r:id="rId4"/>
              </a:rPr>
              <a:t>Bixby Home</a:t>
            </a:r>
            <a:r>
              <a:rPr lang="en-US" dirty="0"/>
              <a:t> a “social stream for your device,” and that’s more or less accurate. It’s a unified card-like interface of reminders, contextually relevant information, and social media </a:t>
            </a:r>
            <a:r>
              <a:rPr lang="en-US" dirty="0" smtClean="0"/>
              <a:t>updates.</a:t>
            </a:r>
          </a:p>
          <a:p>
            <a:endParaRPr lang="en-US" dirty="0"/>
          </a:p>
        </p:txBody>
      </p:sp>
    </p:spTree>
    <p:extLst>
      <p:ext uri="{BB962C8B-B14F-4D97-AF65-F5344CB8AC3E}">
        <p14:creationId xmlns:p14="http://schemas.microsoft.com/office/powerpoint/2010/main" val="2023425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pic>
        <p:nvPicPr>
          <p:cNvPr id="6" name="Picture 5"/>
          <p:cNvPicPr>
            <a:picLocks noChangeAspect="1"/>
          </p:cNvPicPr>
          <p:nvPr/>
        </p:nvPicPr>
        <p:blipFill>
          <a:blip r:embed="rId3"/>
          <a:stretch>
            <a:fillRect/>
          </a:stretch>
        </p:blipFill>
        <p:spPr>
          <a:xfrm>
            <a:off x="8706118" y="668897"/>
            <a:ext cx="1554480" cy="1051339"/>
          </a:xfrm>
          <a:prstGeom prst="rect">
            <a:avLst/>
          </a:prstGeom>
        </p:spPr>
      </p:pic>
      <p:sp>
        <p:nvSpPr>
          <p:cNvPr id="7" name="TextBox 6"/>
          <p:cNvSpPr txBox="1"/>
          <p:nvPr/>
        </p:nvSpPr>
        <p:spPr>
          <a:xfrm>
            <a:off x="8706118" y="206062"/>
            <a:ext cx="2266682" cy="369332"/>
          </a:xfrm>
          <a:prstGeom prst="rect">
            <a:avLst/>
          </a:prstGeom>
          <a:noFill/>
        </p:spPr>
        <p:txBody>
          <a:bodyPr wrap="square" rtlCol="0">
            <a:spAutoFit/>
          </a:bodyPr>
          <a:lstStyle/>
          <a:p>
            <a:r>
              <a:rPr lang="en-US" b="1" u="sng" dirty="0" smtClean="0">
                <a:latin typeface="Century" panose="02040604050505020304" pitchFamily="18" charset="0"/>
              </a:rPr>
              <a:t>Bixby Vision</a:t>
            </a:r>
            <a:endParaRPr lang="en-US" b="1" u="sng" dirty="0">
              <a:latin typeface="Century" panose="02040604050505020304" pitchFamily="18" charset="0"/>
            </a:endParaRPr>
          </a:p>
        </p:txBody>
      </p:sp>
      <p:sp>
        <p:nvSpPr>
          <p:cNvPr id="8" name="TextBox 7"/>
          <p:cNvSpPr txBox="1"/>
          <p:nvPr/>
        </p:nvSpPr>
        <p:spPr>
          <a:xfrm>
            <a:off x="6735651" y="2021983"/>
            <a:ext cx="5228822" cy="2031325"/>
          </a:xfrm>
          <a:prstGeom prst="rect">
            <a:avLst/>
          </a:prstGeom>
          <a:noFill/>
        </p:spPr>
        <p:txBody>
          <a:bodyPr wrap="square" rtlCol="0">
            <a:spAutoFit/>
          </a:bodyPr>
          <a:lstStyle/>
          <a:p>
            <a:r>
              <a:rPr lang="en-US" dirty="0">
                <a:hlinkClick r:id="rId4"/>
              </a:rPr>
              <a:t>Bixby Vision</a:t>
            </a:r>
            <a:r>
              <a:rPr lang="en-US" dirty="0"/>
              <a:t> taps into machine learning and database partnerships to make the camera a little more useful. Bixby Vision recognizes several categories of objects: </a:t>
            </a:r>
            <a:r>
              <a:rPr lang="en-US" dirty="0" smtClean="0"/>
              <a:t>Place</a:t>
            </a:r>
            <a:r>
              <a:rPr lang="en-US" dirty="0"/>
              <a:t>, Text, Image, Food, QR Codes, Wine, and Shopping. You launch it by tapping the </a:t>
            </a:r>
            <a:r>
              <a:rPr lang="en-US" i="1" dirty="0"/>
              <a:t>Bixby</a:t>
            </a:r>
            <a:r>
              <a:rPr lang="en-US" dirty="0"/>
              <a:t> button in the Galaxy S10’s camera app or the </a:t>
            </a:r>
            <a:r>
              <a:rPr lang="en-US" i="1" dirty="0"/>
              <a:t>Bixby Visio</a:t>
            </a:r>
            <a:r>
              <a:rPr lang="en-US" dirty="0"/>
              <a:t>n icon on the upper-left side of the camera interface.</a:t>
            </a:r>
          </a:p>
        </p:txBody>
      </p:sp>
    </p:spTree>
    <p:extLst>
      <p:ext uri="{BB962C8B-B14F-4D97-AF65-F5344CB8AC3E}">
        <p14:creationId xmlns:p14="http://schemas.microsoft.com/office/powerpoint/2010/main" val="27766049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2877711" cy="369332"/>
          </a:xfrm>
          <a:prstGeom prst="rect">
            <a:avLst/>
          </a:prstGeom>
        </p:spPr>
        <p:txBody>
          <a:bodyPr wrap="none">
            <a:spAutoFit/>
          </a:bodyPr>
          <a:lstStyle/>
          <a:p>
            <a:pPr fontAlgn="base"/>
            <a:r>
              <a:rPr lang="en-US" b="1" dirty="0">
                <a:latin typeface="Arial" panose="020B0604020202020204" pitchFamily="34" charset="0"/>
              </a:rPr>
              <a:t>1. Bixby voice command</a:t>
            </a:r>
            <a:endParaRPr lang="en-US" b="1" i="0" dirty="0">
              <a:effectLst/>
              <a:latin typeface="Arial" panose="020B0604020202020204" pitchFamily="34" charset="0"/>
            </a:endParaRPr>
          </a:p>
        </p:txBody>
      </p:sp>
      <p:sp>
        <p:nvSpPr>
          <p:cNvPr id="5" name="Rectangle 4"/>
          <p:cNvSpPr/>
          <p:nvPr/>
        </p:nvSpPr>
        <p:spPr>
          <a:xfrm>
            <a:off x="6755028" y="1853165"/>
            <a:ext cx="5000367" cy="2290467"/>
          </a:xfrm>
          <a:prstGeom prst="rect">
            <a:avLst/>
          </a:prstGeom>
        </p:spPr>
        <p:txBody>
          <a:bodyPr wrap="square">
            <a:spAutoFit/>
          </a:bodyPr>
          <a:lstStyle/>
          <a:p>
            <a:r>
              <a:rPr lang="en-US" dirty="0">
                <a:solidFill>
                  <a:srgbClr val="212529"/>
                </a:solidFill>
                <a:latin typeface="Helvetica" panose="020B0604020202020204" pitchFamily="34" charset="0"/>
              </a:rPr>
              <a:t>You can use Bixby to perform a variety of functions with its voice commands. You will be surprised at how efficient the Bixby command works. It can execute complex commands. Take, for instance; you can ask Bixby to ‘Play videos on my TV.’, ‘Open Instagram and upload two of my latest pictures,’ ‘Open gallery and find images from London,’ etc.</a:t>
            </a:r>
            <a:endParaRPr lang="en-US" dirty="0"/>
          </a:p>
        </p:txBody>
      </p:sp>
    </p:spTree>
    <p:extLst>
      <p:ext uri="{BB962C8B-B14F-4D97-AF65-F5344CB8AC3E}">
        <p14:creationId xmlns:p14="http://schemas.microsoft.com/office/powerpoint/2010/main" val="2451219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2599622" cy="369332"/>
          </a:xfrm>
          <a:prstGeom prst="rect">
            <a:avLst/>
          </a:prstGeom>
        </p:spPr>
        <p:txBody>
          <a:bodyPr wrap="none">
            <a:spAutoFit/>
          </a:bodyPr>
          <a:lstStyle/>
          <a:p>
            <a:pPr fontAlgn="base"/>
            <a:r>
              <a:rPr lang="en-US" b="1" dirty="0"/>
              <a:t>2. Bixby quick commands</a:t>
            </a:r>
          </a:p>
        </p:txBody>
      </p:sp>
      <p:sp>
        <p:nvSpPr>
          <p:cNvPr id="5" name="Rectangle 4"/>
          <p:cNvSpPr/>
          <p:nvPr/>
        </p:nvSpPr>
        <p:spPr>
          <a:xfrm>
            <a:off x="6755028" y="1853165"/>
            <a:ext cx="5000367" cy="2031325"/>
          </a:xfrm>
          <a:prstGeom prst="rect">
            <a:avLst/>
          </a:prstGeom>
        </p:spPr>
        <p:txBody>
          <a:bodyPr wrap="square">
            <a:spAutoFit/>
          </a:bodyPr>
          <a:lstStyle/>
          <a:p>
            <a:r>
              <a:rPr lang="en-US" dirty="0"/>
              <a:t>Using Bixby doesn’t have to come with the pains of memorizing long voice commands. If you rely more on Bixby’s voice commands to get things done, you can shorten them for faster input. E.g., instead of using the voice command ‘take a screenshot,’ you can set Bixby to recognize the quick voice command ‘screenshot.’ </a:t>
            </a:r>
          </a:p>
        </p:txBody>
      </p:sp>
      <p:sp>
        <p:nvSpPr>
          <p:cNvPr id="6" name="Rectangle 5"/>
          <p:cNvSpPr/>
          <p:nvPr/>
        </p:nvSpPr>
        <p:spPr>
          <a:xfrm>
            <a:off x="6792097" y="3963099"/>
            <a:ext cx="4926228" cy="1569660"/>
          </a:xfrm>
          <a:prstGeom prst="rect">
            <a:avLst/>
          </a:prstGeom>
        </p:spPr>
        <p:txBody>
          <a:bodyPr wrap="square">
            <a:spAutoFit/>
          </a:bodyPr>
          <a:lstStyle/>
          <a:p>
            <a:pPr fontAlgn="base"/>
            <a:r>
              <a:rPr lang="en-US" sz="1200" dirty="0">
                <a:solidFill>
                  <a:srgbClr val="212529"/>
                </a:solidFill>
                <a:latin typeface="Helvetica" panose="020B0604020202020204" pitchFamily="34" charset="0"/>
              </a:rPr>
              <a:t>Here’s how to set up quick commands for Bixby:</a:t>
            </a:r>
          </a:p>
          <a:p>
            <a:pPr fontAlgn="base">
              <a:buFont typeface="+mj-lt"/>
              <a:buAutoNum type="arabicPeriod"/>
            </a:pPr>
            <a:r>
              <a:rPr lang="en-US" sz="1200" b="1" dirty="0">
                <a:solidFill>
                  <a:srgbClr val="212529"/>
                </a:solidFill>
                <a:latin typeface="Helvetica" panose="020B0604020202020204" pitchFamily="34" charset="0"/>
              </a:rPr>
              <a:t>Press Bixby’s dedicated button or swipe across your device from left to right to enter Bixby settings.</a:t>
            </a:r>
            <a:endParaRPr lang="en-US" sz="1200" dirty="0">
              <a:solidFill>
                <a:srgbClr val="212529"/>
              </a:solidFill>
              <a:latin typeface="Helvetica" panose="020B0604020202020204" pitchFamily="34" charset="0"/>
            </a:endParaRPr>
          </a:p>
          <a:p>
            <a:pPr fontAlgn="base">
              <a:buFont typeface="+mj-lt"/>
              <a:buAutoNum type="arabicPeriod"/>
            </a:pPr>
            <a:r>
              <a:rPr lang="en-US" sz="1200" b="1" dirty="0">
                <a:solidFill>
                  <a:srgbClr val="212529"/>
                </a:solidFill>
                <a:latin typeface="Helvetica" panose="020B0604020202020204" pitchFamily="34" charset="0"/>
              </a:rPr>
              <a:t>From Bixby’s menu, choose the ‘Quick Commands’ option.</a:t>
            </a:r>
            <a:endParaRPr lang="en-US" sz="1200" dirty="0">
              <a:solidFill>
                <a:srgbClr val="212529"/>
              </a:solidFill>
              <a:latin typeface="Helvetica" panose="020B0604020202020204" pitchFamily="34" charset="0"/>
            </a:endParaRPr>
          </a:p>
          <a:p>
            <a:pPr fontAlgn="base">
              <a:buFont typeface="+mj-lt"/>
              <a:buAutoNum type="arabicPeriod"/>
            </a:pPr>
            <a:r>
              <a:rPr lang="en-US" sz="1200" b="1" dirty="0">
                <a:solidFill>
                  <a:srgbClr val="212529"/>
                </a:solidFill>
                <a:latin typeface="Helvetica" panose="020B0604020202020204" pitchFamily="34" charset="0"/>
              </a:rPr>
              <a:t>Select ‘Make Your own Quick Command.’</a:t>
            </a:r>
            <a:endParaRPr lang="en-US" sz="1200" dirty="0">
              <a:solidFill>
                <a:srgbClr val="212529"/>
              </a:solidFill>
              <a:latin typeface="Helvetica" panose="020B0604020202020204" pitchFamily="34" charset="0"/>
            </a:endParaRPr>
          </a:p>
          <a:p>
            <a:pPr fontAlgn="base">
              <a:buFont typeface="+mj-lt"/>
              <a:buAutoNum type="arabicPeriod"/>
            </a:pPr>
            <a:r>
              <a:rPr lang="en-US" sz="1200" b="1" dirty="0">
                <a:solidFill>
                  <a:srgbClr val="212529"/>
                </a:solidFill>
                <a:latin typeface="Helvetica" panose="020B0604020202020204" pitchFamily="34" charset="0"/>
              </a:rPr>
              <a:t>Tap on ‘Bixby Command’ and select the command you wish to replace.</a:t>
            </a:r>
            <a:endParaRPr lang="en-US" sz="1200" dirty="0">
              <a:solidFill>
                <a:srgbClr val="212529"/>
              </a:solidFill>
              <a:latin typeface="Helvetica" panose="020B0604020202020204" pitchFamily="34" charset="0"/>
            </a:endParaRPr>
          </a:p>
          <a:p>
            <a:pPr fontAlgn="base">
              <a:buFont typeface="+mj-lt"/>
              <a:buAutoNum type="arabicPeriod"/>
            </a:pPr>
            <a:r>
              <a:rPr lang="en-US" sz="1200" b="1" dirty="0">
                <a:solidFill>
                  <a:srgbClr val="212529"/>
                </a:solidFill>
                <a:latin typeface="Helvetica" panose="020B0604020202020204" pitchFamily="34" charset="0"/>
              </a:rPr>
              <a:t>Tap the microphone icon, record your quick command.</a:t>
            </a:r>
            <a:endParaRPr lang="en-US" sz="1200" b="0" i="0" dirty="0">
              <a:solidFill>
                <a:srgbClr val="212529"/>
              </a:solidFill>
              <a:effectLst/>
              <a:latin typeface="Helvetica" panose="020B0604020202020204" pitchFamily="34" charset="0"/>
            </a:endParaRPr>
          </a:p>
        </p:txBody>
      </p:sp>
    </p:spTree>
    <p:extLst>
      <p:ext uri="{BB962C8B-B14F-4D97-AF65-F5344CB8AC3E}">
        <p14:creationId xmlns:p14="http://schemas.microsoft.com/office/powerpoint/2010/main" val="14464981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2554867" cy="369332"/>
          </a:xfrm>
          <a:prstGeom prst="rect">
            <a:avLst/>
          </a:prstGeom>
        </p:spPr>
        <p:txBody>
          <a:bodyPr wrap="none">
            <a:spAutoFit/>
          </a:bodyPr>
          <a:lstStyle/>
          <a:p>
            <a:pPr fontAlgn="base"/>
            <a:r>
              <a:rPr lang="en-US" b="1" dirty="0"/>
              <a:t>3. Use Bixby to translate </a:t>
            </a:r>
          </a:p>
        </p:txBody>
      </p:sp>
      <p:sp>
        <p:nvSpPr>
          <p:cNvPr id="5" name="Rectangle 4"/>
          <p:cNvSpPr/>
          <p:nvPr/>
        </p:nvSpPr>
        <p:spPr>
          <a:xfrm>
            <a:off x="6755028" y="1853165"/>
            <a:ext cx="5000367" cy="1200329"/>
          </a:xfrm>
          <a:prstGeom prst="rect">
            <a:avLst/>
          </a:prstGeom>
        </p:spPr>
        <p:txBody>
          <a:bodyPr wrap="square">
            <a:spAutoFit/>
          </a:bodyPr>
          <a:lstStyle/>
          <a:p>
            <a:r>
              <a:rPr lang="en-US" dirty="0"/>
              <a:t>You saw Chinese inscriptions, and you wonder what it means? Don’t wander too far; let Bixby read and translate the Chinese inscription to English or other languages. </a:t>
            </a:r>
          </a:p>
        </p:txBody>
      </p:sp>
      <p:sp>
        <p:nvSpPr>
          <p:cNvPr id="6" name="Rectangle 5"/>
          <p:cNvSpPr/>
          <p:nvPr/>
        </p:nvSpPr>
        <p:spPr>
          <a:xfrm>
            <a:off x="6755028" y="3315893"/>
            <a:ext cx="5074507" cy="2246769"/>
          </a:xfrm>
          <a:prstGeom prst="rect">
            <a:avLst/>
          </a:prstGeom>
        </p:spPr>
        <p:txBody>
          <a:bodyPr wrap="square">
            <a:spAutoFit/>
          </a:bodyPr>
          <a:lstStyle/>
          <a:p>
            <a:pPr fontAlgn="base"/>
            <a:r>
              <a:rPr lang="en-US" sz="1400" dirty="0">
                <a:solidFill>
                  <a:srgbClr val="212529"/>
                </a:solidFill>
                <a:latin typeface="Helvetica" panose="020B0604020202020204" pitchFamily="34" charset="0"/>
              </a:rPr>
              <a:t>To do this, follow these steps:</a:t>
            </a:r>
          </a:p>
          <a:p>
            <a:pPr fontAlgn="base">
              <a:buFont typeface="+mj-lt"/>
              <a:buAutoNum type="arabicPeriod"/>
            </a:pPr>
            <a:r>
              <a:rPr lang="en-US" sz="1400" b="1" dirty="0">
                <a:solidFill>
                  <a:srgbClr val="212529"/>
                </a:solidFill>
                <a:latin typeface="Helvetica" panose="020B0604020202020204" pitchFamily="34" charset="0"/>
              </a:rPr>
              <a:t>Turn on your device’s camera.</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Tap on Bixby’s vision icon (an eye icon).</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Focus the camera on inscriptions.</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Tap ‘Text’ and crop the word or inscription you want to translate.</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Tap on ‘Translate,’ </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Swipe your finger across the word you wish to translate, and boom! Bixby will read out the meaning of the inscription. </a:t>
            </a:r>
            <a:endParaRPr lang="en-US" sz="1400" b="0" i="0" dirty="0">
              <a:solidFill>
                <a:srgbClr val="212529"/>
              </a:solidFill>
              <a:effectLst/>
              <a:latin typeface="Helvetica" panose="020B0604020202020204" pitchFamily="34" charset="0"/>
            </a:endParaRPr>
          </a:p>
        </p:txBody>
      </p:sp>
    </p:spTree>
    <p:extLst>
      <p:ext uri="{BB962C8B-B14F-4D97-AF65-F5344CB8AC3E}">
        <p14:creationId xmlns:p14="http://schemas.microsoft.com/office/powerpoint/2010/main" val="31003264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2571025" cy="369332"/>
          </a:xfrm>
          <a:prstGeom prst="rect">
            <a:avLst/>
          </a:prstGeom>
        </p:spPr>
        <p:txBody>
          <a:bodyPr wrap="none">
            <a:spAutoFit/>
          </a:bodyPr>
          <a:lstStyle/>
          <a:p>
            <a:pPr fontAlgn="base"/>
            <a:r>
              <a:rPr lang="en-US" b="1" dirty="0"/>
              <a:t>4. Convert images to text</a:t>
            </a:r>
          </a:p>
        </p:txBody>
      </p:sp>
      <p:sp>
        <p:nvSpPr>
          <p:cNvPr id="6" name="Rectangle 5"/>
          <p:cNvSpPr/>
          <p:nvPr/>
        </p:nvSpPr>
        <p:spPr>
          <a:xfrm>
            <a:off x="6684804" y="1817298"/>
            <a:ext cx="4798742" cy="646331"/>
          </a:xfrm>
          <a:prstGeom prst="rect">
            <a:avLst/>
          </a:prstGeom>
        </p:spPr>
        <p:txBody>
          <a:bodyPr wrap="square">
            <a:spAutoFit/>
          </a:bodyPr>
          <a:lstStyle/>
          <a:p>
            <a:r>
              <a:rPr lang="en-US" dirty="0">
                <a:solidFill>
                  <a:srgbClr val="212529"/>
                </a:solidFill>
                <a:latin typeface="Helvetica" panose="020B0604020202020204" pitchFamily="34" charset="0"/>
              </a:rPr>
              <a:t>Do you want to get a work typed out? Easy! Ask Bixby to extract the text for you. </a:t>
            </a:r>
            <a:endParaRPr lang="en-US" dirty="0"/>
          </a:p>
        </p:txBody>
      </p:sp>
      <p:sp>
        <p:nvSpPr>
          <p:cNvPr id="7" name="Rectangle 6"/>
          <p:cNvSpPr/>
          <p:nvPr/>
        </p:nvSpPr>
        <p:spPr>
          <a:xfrm>
            <a:off x="6684804" y="2628382"/>
            <a:ext cx="5293012" cy="1384995"/>
          </a:xfrm>
          <a:prstGeom prst="rect">
            <a:avLst/>
          </a:prstGeom>
        </p:spPr>
        <p:txBody>
          <a:bodyPr wrap="square">
            <a:spAutoFit/>
          </a:bodyPr>
          <a:lstStyle/>
          <a:p>
            <a:pPr fontAlgn="base">
              <a:buFont typeface="+mj-lt"/>
              <a:buAutoNum type="arabicPeriod"/>
            </a:pPr>
            <a:r>
              <a:rPr lang="en-US" sz="1400" b="1" dirty="0">
                <a:solidFill>
                  <a:srgbClr val="212529"/>
                </a:solidFill>
                <a:latin typeface="Helvetica" panose="020B0604020202020204" pitchFamily="34" charset="0"/>
              </a:rPr>
              <a:t>Turn on your device’s camera.</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Tap on Bixby’s vision icon (an eye icon).</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Focus the camera on the image text you wish to extract.</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Tap on ‘Text’ and select ‘Extract.’ </a:t>
            </a:r>
            <a:endParaRPr lang="en-US" sz="1400" dirty="0">
              <a:solidFill>
                <a:srgbClr val="212529"/>
              </a:solidFill>
              <a:latin typeface="Helvetica" panose="020B0604020202020204" pitchFamily="34" charset="0"/>
            </a:endParaRPr>
          </a:p>
          <a:p>
            <a:pPr fontAlgn="base">
              <a:buFont typeface="+mj-lt"/>
              <a:buAutoNum type="arabicPeriod"/>
            </a:pPr>
            <a:r>
              <a:rPr lang="en-US" sz="1400" b="1" dirty="0">
                <a:solidFill>
                  <a:srgbClr val="212529"/>
                </a:solidFill>
                <a:latin typeface="Helvetica" panose="020B0604020202020204" pitchFamily="34" charset="0"/>
              </a:rPr>
              <a:t>Bixby will then convert the text to an editable format. You can save, edit, or share the copied text.</a:t>
            </a:r>
            <a:endParaRPr lang="en-US" sz="1400" b="0" i="0" dirty="0">
              <a:solidFill>
                <a:srgbClr val="212529"/>
              </a:solidFill>
              <a:effectLst/>
              <a:latin typeface="Helvetica" panose="020B0604020202020204" pitchFamily="34" charset="0"/>
            </a:endParaRPr>
          </a:p>
        </p:txBody>
      </p:sp>
    </p:spTree>
    <p:extLst>
      <p:ext uri="{BB962C8B-B14F-4D97-AF65-F5344CB8AC3E}">
        <p14:creationId xmlns:p14="http://schemas.microsoft.com/office/powerpoint/2010/main" val="15890527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1593065" cy="369332"/>
          </a:xfrm>
          <a:prstGeom prst="rect">
            <a:avLst/>
          </a:prstGeom>
        </p:spPr>
        <p:txBody>
          <a:bodyPr wrap="none">
            <a:spAutoFit/>
          </a:bodyPr>
          <a:lstStyle/>
          <a:p>
            <a:pPr fontAlgn="base"/>
            <a:r>
              <a:rPr lang="en-US" b="1" dirty="0"/>
              <a:t>5. Find photos </a:t>
            </a:r>
          </a:p>
        </p:txBody>
      </p:sp>
      <p:sp>
        <p:nvSpPr>
          <p:cNvPr id="5" name="Rectangle 4"/>
          <p:cNvSpPr/>
          <p:nvPr/>
        </p:nvSpPr>
        <p:spPr>
          <a:xfrm>
            <a:off x="6755028" y="1853165"/>
            <a:ext cx="5000367" cy="1754326"/>
          </a:xfrm>
          <a:prstGeom prst="rect">
            <a:avLst/>
          </a:prstGeom>
        </p:spPr>
        <p:txBody>
          <a:bodyPr wrap="square">
            <a:spAutoFit/>
          </a:bodyPr>
          <a:lstStyle/>
          <a:p>
            <a:r>
              <a:rPr lang="en-US" dirty="0"/>
              <a:t>Surfing through thousands of images in your photos gallery can be a herculean task. Use the voice command ‘Hi, Bixby, open gallery and find photos of babies.’ Afterward, Bixby will open your photos gallery, search, filter your images, and present you with only babies’ photos.</a:t>
            </a:r>
          </a:p>
        </p:txBody>
      </p:sp>
    </p:spTree>
    <p:extLst>
      <p:ext uri="{BB962C8B-B14F-4D97-AF65-F5344CB8AC3E}">
        <p14:creationId xmlns:p14="http://schemas.microsoft.com/office/powerpoint/2010/main" val="616516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249334" cy="369332"/>
          </a:xfrm>
          <a:prstGeom prst="rect">
            <a:avLst/>
          </a:prstGeom>
        </p:spPr>
        <p:txBody>
          <a:bodyPr wrap="none">
            <a:spAutoFit/>
          </a:bodyPr>
          <a:lstStyle/>
          <a:p>
            <a:pPr fontAlgn="base"/>
            <a:r>
              <a:rPr lang="en-US" dirty="0" smtClean="0">
                <a:latin typeface="Arial" panose="020B0604020202020204" pitchFamily="34" charset="0"/>
              </a:rPr>
              <a:t>Best Bixby Features</a:t>
            </a:r>
            <a:endParaRPr lang="en-US" b="0" i="0" dirty="0">
              <a:effectLst/>
              <a:latin typeface="Arial" panose="020B0604020202020204" pitchFamily="34" charset="0"/>
            </a:endParaRPr>
          </a:p>
        </p:txBody>
      </p:sp>
      <p:sp>
        <p:nvSpPr>
          <p:cNvPr id="3" name="Rectangle 2"/>
          <p:cNvSpPr/>
          <p:nvPr/>
        </p:nvSpPr>
        <p:spPr>
          <a:xfrm>
            <a:off x="6684804" y="1316680"/>
            <a:ext cx="3570401" cy="369332"/>
          </a:xfrm>
          <a:prstGeom prst="rect">
            <a:avLst/>
          </a:prstGeom>
        </p:spPr>
        <p:txBody>
          <a:bodyPr wrap="none">
            <a:spAutoFit/>
          </a:bodyPr>
          <a:lstStyle/>
          <a:p>
            <a:pPr fontAlgn="base"/>
            <a:r>
              <a:rPr lang="en-US" b="1" dirty="0"/>
              <a:t>6. Post your photos on social media</a:t>
            </a:r>
          </a:p>
        </p:txBody>
      </p:sp>
      <p:sp>
        <p:nvSpPr>
          <p:cNvPr id="5" name="Rectangle 4"/>
          <p:cNvSpPr/>
          <p:nvPr/>
        </p:nvSpPr>
        <p:spPr>
          <a:xfrm>
            <a:off x="6755028" y="1853165"/>
            <a:ext cx="5000367" cy="1754326"/>
          </a:xfrm>
          <a:prstGeom prst="rect">
            <a:avLst/>
          </a:prstGeom>
        </p:spPr>
        <p:txBody>
          <a:bodyPr wrap="square">
            <a:spAutoFit/>
          </a:bodyPr>
          <a:lstStyle/>
          <a:p>
            <a:r>
              <a:rPr lang="en-US" dirty="0"/>
              <a:t>Bixby can help you open your social media accounts and make a post on your behalf. Use the voice command, ‘Hi Bixby, post my most recent image on Facebook.’ Afterward, Bixby will open your Facebook account and create a post for you. Add a caption to the image and post it to Facebook. </a:t>
            </a:r>
          </a:p>
        </p:txBody>
      </p:sp>
    </p:spTree>
    <p:extLst>
      <p:ext uri="{BB962C8B-B14F-4D97-AF65-F5344CB8AC3E}">
        <p14:creationId xmlns:p14="http://schemas.microsoft.com/office/powerpoint/2010/main" val="11722056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364750" cy="369332"/>
          </a:xfrm>
          <a:prstGeom prst="rect">
            <a:avLst/>
          </a:prstGeom>
        </p:spPr>
        <p:txBody>
          <a:bodyPr wrap="none">
            <a:spAutoFit/>
          </a:bodyPr>
          <a:lstStyle/>
          <a:p>
            <a:pPr fontAlgn="base"/>
            <a:r>
              <a:rPr lang="en-US" dirty="0" smtClean="0">
                <a:latin typeface="Arial" panose="020B0604020202020204" pitchFamily="34" charset="0"/>
              </a:rPr>
              <a:t>Bixby Other Features</a:t>
            </a:r>
            <a:endParaRPr lang="en-US" b="0" i="0" dirty="0">
              <a:effectLst/>
              <a:latin typeface="Arial" panose="020B0604020202020204" pitchFamily="34" charset="0"/>
            </a:endParaRPr>
          </a:p>
        </p:txBody>
      </p:sp>
      <p:sp>
        <p:nvSpPr>
          <p:cNvPr id="3" name="Rectangle 2"/>
          <p:cNvSpPr/>
          <p:nvPr/>
        </p:nvSpPr>
        <p:spPr>
          <a:xfrm>
            <a:off x="6684804" y="1316680"/>
            <a:ext cx="1956433" cy="369332"/>
          </a:xfrm>
          <a:prstGeom prst="rect">
            <a:avLst/>
          </a:prstGeom>
        </p:spPr>
        <p:txBody>
          <a:bodyPr wrap="none">
            <a:spAutoFit/>
          </a:bodyPr>
          <a:lstStyle/>
          <a:p>
            <a:pPr fontAlgn="base"/>
            <a:r>
              <a:rPr lang="en-US" b="1" dirty="0" smtClean="0"/>
              <a:t>Find </a:t>
            </a:r>
            <a:r>
              <a:rPr lang="en-US" b="1" dirty="0"/>
              <a:t>your location </a:t>
            </a:r>
          </a:p>
        </p:txBody>
      </p:sp>
      <p:sp>
        <p:nvSpPr>
          <p:cNvPr id="6" name="Rectangle 5"/>
          <p:cNvSpPr/>
          <p:nvPr/>
        </p:nvSpPr>
        <p:spPr>
          <a:xfrm>
            <a:off x="6684804" y="2203703"/>
            <a:ext cx="2031325" cy="338554"/>
          </a:xfrm>
          <a:prstGeom prst="rect">
            <a:avLst/>
          </a:prstGeom>
        </p:spPr>
        <p:txBody>
          <a:bodyPr wrap="none">
            <a:spAutoFit/>
          </a:bodyPr>
          <a:lstStyle/>
          <a:p>
            <a:pPr fontAlgn="base"/>
            <a:r>
              <a:rPr lang="en-US" sz="1600" b="1" dirty="0" smtClean="0">
                <a:latin typeface="Arial" panose="020B0604020202020204" pitchFamily="34" charset="0"/>
              </a:rPr>
              <a:t>Send </a:t>
            </a:r>
            <a:r>
              <a:rPr lang="en-US" sz="1600" b="1" dirty="0">
                <a:latin typeface="Arial" panose="020B0604020202020204" pitchFamily="34" charset="0"/>
              </a:rPr>
              <a:t>your location</a:t>
            </a:r>
            <a:endParaRPr lang="en-US" sz="1600" b="1" i="0" dirty="0">
              <a:effectLst/>
              <a:latin typeface="Arial" panose="020B0604020202020204" pitchFamily="34" charset="0"/>
            </a:endParaRPr>
          </a:p>
        </p:txBody>
      </p:sp>
      <p:sp>
        <p:nvSpPr>
          <p:cNvPr id="7" name="Rectangle 6"/>
          <p:cNvSpPr/>
          <p:nvPr/>
        </p:nvSpPr>
        <p:spPr>
          <a:xfrm>
            <a:off x="6684804" y="3679474"/>
            <a:ext cx="1553630" cy="338554"/>
          </a:xfrm>
          <a:prstGeom prst="rect">
            <a:avLst/>
          </a:prstGeom>
        </p:spPr>
        <p:txBody>
          <a:bodyPr wrap="none">
            <a:spAutoFit/>
          </a:bodyPr>
          <a:lstStyle/>
          <a:p>
            <a:pPr fontAlgn="base"/>
            <a:r>
              <a:rPr lang="en-US" sz="1600" b="1" dirty="0">
                <a:latin typeface="Arial" panose="020B0604020202020204" pitchFamily="34" charset="0"/>
              </a:rPr>
              <a:t>Bixby routine </a:t>
            </a:r>
            <a:endParaRPr lang="en-US" sz="1600" b="1" i="0" dirty="0">
              <a:effectLst/>
              <a:latin typeface="Arial" panose="020B0604020202020204" pitchFamily="34" charset="0"/>
            </a:endParaRPr>
          </a:p>
        </p:txBody>
      </p:sp>
      <p:sp>
        <p:nvSpPr>
          <p:cNvPr id="8" name="Rectangle 7"/>
          <p:cNvSpPr/>
          <p:nvPr/>
        </p:nvSpPr>
        <p:spPr>
          <a:xfrm>
            <a:off x="6684804" y="1617244"/>
            <a:ext cx="4296234" cy="523220"/>
          </a:xfrm>
          <a:prstGeom prst="rect">
            <a:avLst/>
          </a:prstGeom>
        </p:spPr>
        <p:txBody>
          <a:bodyPr wrap="square">
            <a:spAutoFit/>
          </a:bodyPr>
          <a:lstStyle/>
          <a:p>
            <a:r>
              <a:rPr lang="en-US" sz="1400" smtClean="0">
                <a:solidFill>
                  <a:srgbClr val="212529"/>
                </a:solidFill>
                <a:latin typeface="Helvetica" panose="020B0604020202020204" pitchFamily="34" charset="0"/>
              </a:rPr>
              <a:t>Don’t you know where you’re? Bixby can help you determine your location. </a:t>
            </a:r>
            <a:endParaRPr lang="en-US" sz="1400" dirty="0"/>
          </a:p>
        </p:txBody>
      </p:sp>
      <p:sp>
        <p:nvSpPr>
          <p:cNvPr id="9" name="Rectangle 8"/>
          <p:cNvSpPr/>
          <p:nvPr/>
        </p:nvSpPr>
        <p:spPr>
          <a:xfrm>
            <a:off x="6684804" y="2509923"/>
            <a:ext cx="4168346" cy="1169551"/>
          </a:xfrm>
          <a:prstGeom prst="rect">
            <a:avLst/>
          </a:prstGeom>
        </p:spPr>
        <p:txBody>
          <a:bodyPr wrap="square">
            <a:spAutoFit/>
          </a:bodyPr>
          <a:lstStyle/>
          <a:p>
            <a:r>
              <a:rPr lang="en-US" sz="1400" dirty="0">
                <a:solidFill>
                  <a:srgbClr val="212529"/>
                </a:solidFill>
                <a:latin typeface="Helvetica" panose="020B0604020202020204" pitchFamily="34" charset="0"/>
              </a:rPr>
              <a:t>You need a friend to send you directions or come pick you up at your location? Use the voice command ‘Hi Bixby, text Bob my location.’ Your friend will get a text of your location and meet you or send you the directions you need.</a:t>
            </a:r>
            <a:endParaRPr lang="en-US" sz="1400" dirty="0"/>
          </a:p>
        </p:txBody>
      </p:sp>
      <p:sp>
        <p:nvSpPr>
          <p:cNvPr id="10" name="Rectangle 9"/>
          <p:cNvSpPr/>
          <p:nvPr/>
        </p:nvSpPr>
        <p:spPr>
          <a:xfrm>
            <a:off x="6684804" y="4018028"/>
            <a:ext cx="4572000" cy="1169551"/>
          </a:xfrm>
          <a:prstGeom prst="rect">
            <a:avLst/>
          </a:prstGeom>
        </p:spPr>
        <p:txBody>
          <a:bodyPr wrap="square">
            <a:spAutoFit/>
          </a:bodyPr>
          <a:lstStyle/>
          <a:p>
            <a:r>
              <a:rPr lang="en-US" sz="1400" dirty="0">
                <a:solidFill>
                  <a:srgbClr val="212529"/>
                </a:solidFill>
                <a:latin typeface="Helvetica" panose="020B0604020202020204" pitchFamily="34" charset="0"/>
              </a:rPr>
              <a:t>Bixby routine puts your phone in various modes based on set triggers. Bixby uses triggers like location, time, charging status, or connectivity mode to automate predetermined actions that form part of your daily routines. </a:t>
            </a:r>
            <a:endParaRPr lang="en-US" sz="1400" dirty="0"/>
          </a:p>
        </p:txBody>
      </p:sp>
    </p:spTree>
    <p:extLst>
      <p:ext uri="{BB962C8B-B14F-4D97-AF65-F5344CB8AC3E}">
        <p14:creationId xmlns:p14="http://schemas.microsoft.com/office/powerpoint/2010/main" val="4374352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2" name="Rectangle 1"/>
          <p:cNvSpPr/>
          <p:nvPr/>
        </p:nvSpPr>
        <p:spPr>
          <a:xfrm>
            <a:off x="6684804" y="492896"/>
            <a:ext cx="2364750" cy="369332"/>
          </a:xfrm>
          <a:prstGeom prst="rect">
            <a:avLst/>
          </a:prstGeom>
        </p:spPr>
        <p:txBody>
          <a:bodyPr wrap="none">
            <a:spAutoFit/>
          </a:bodyPr>
          <a:lstStyle/>
          <a:p>
            <a:pPr fontAlgn="base"/>
            <a:r>
              <a:rPr lang="en-US" dirty="0" smtClean="0">
                <a:latin typeface="Arial" panose="020B0604020202020204" pitchFamily="34" charset="0"/>
              </a:rPr>
              <a:t>Bixby Other Features</a:t>
            </a:r>
            <a:endParaRPr lang="en-US" b="0" i="0" dirty="0">
              <a:effectLst/>
              <a:latin typeface="Arial" panose="020B0604020202020204" pitchFamily="34" charset="0"/>
            </a:endParaRPr>
          </a:p>
        </p:txBody>
      </p:sp>
      <p:sp>
        <p:nvSpPr>
          <p:cNvPr id="5" name="Rectangle 4"/>
          <p:cNvSpPr/>
          <p:nvPr/>
        </p:nvSpPr>
        <p:spPr>
          <a:xfrm>
            <a:off x="6684804" y="1382583"/>
            <a:ext cx="5093339" cy="2585323"/>
          </a:xfrm>
          <a:prstGeom prst="rect">
            <a:avLst/>
          </a:prstGeom>
        </p:spPr>
        <p:txBody>
          <a:bodyPr wrap="square">
            <a:spAutoFit/>
          </a:bodyPr>
          <a:lstStyle/>
          <a:p>
            <a:pPr marL="285750" indent="-285750" fontAlgn="base">
              <a:buFont typeface="Arial" panose="020B0604020202020204" pitchFamily="34" charset="0"/>
              <a:buChar char="•"/>
            </a:pPr>
            <a:r>
              <a:rPr lang="en-US" b="1" dirty="0">
                <a:latin typeface="Arial" panose="020B0604020202020204" pitchFamily="34" charset="0"/>
              </a:rPr>
              <a:t>Control smart home </a:t>
            </a:r>
            <a:r>
              <a:rPr lang="en-US" b="1" dirty="0" smtClean="0">
                <a:latin typeface="Arial" panose="020B0604020202020204" pitchFamily="34" charset="0"/>
              </a:rPr>
              <a:t>appliances</a:t>
            </a:r>
          </a:p>
          <a:p>
            <a:pPr marL="285750" indent="-285750" fontAlgn="base">
              <a:buFont typeface="Arial" panose="020B0604020202020204" pitchFamily="34" charset="0"/>
              <a:buChar char="•"/>
            </a:pPr>
            <a:r>
              <a:rPr lang="en-US" b="1" dirty="0">
                <a:latin typeface="Arial" panose="020B0604020202020204" pitchFamily="34" charset="0"/>
              </a:rPr>
              <a:t>Use Bixby for navigation  </a:t>
            </a:r>
          </a:p>
          <a:p>
            <a:pPr marL="285750" indent="-285750" fontAlgn="base">
              <a:buFont typeface="Arial" panose="020B0604020202020204" pitchFamily="34" charset="0"/>
              <a:buChar char="•"/>
            </a:pPr>
            <a:r>
              <a:rPr lang="en-US" b="1" dirty="0">
                <a:latin typeface="Arial" panose="020B0604020202020204" pitchFamily="34" charset="0"/>
              </a:rPr>
              <a:t> Access your device’s Settings with </a:t>
            </a:r>
            <a:r>
              <a:rPr lang="en-US" b="1" dirty="0" smtClean="0">
                <a:latin typeface="Arial" panose="020B0604020202020204" pitchFamily="34" charset="0"/>
              </a:rPr>
              <a:t>Bixby</a:t>
            </a:r>
          </a:p>
          <a:p>
            <a:pPr marL="285750" indent="-285750" fontAlgn="base">
              <a:buFont typeface="Arial" panose="020B0604020202020204" pitchFamily="34" charset="0"/>
              <a:buChar char="•"/>
            </a:pPr>
            <a:r>
              <a:rPr lang="en-US" b="1" dirty="0">
                <a:latin typeface="Arial" panose="020B0604020202020204" pitchFamily="34" charset="0"/>
              </a:rPr>
              <a:t>Ask Bixby to install an </a:t>
            </a:r>
            <a:r>
              <a:rPr lang="en-US" b="1" dirty="0" smtClean="0">
                <a:latin typeface="Arial" panose="020B0604020202020204" pitchFamily="34" charset="0"/>
              </a:rPr>
              <a:t>app</a:t>
            </a:r>
          </a:p>
          <a:p>
            <a:pPr marL="285750" indent="-285750" fontAlgn="base">
              <a:buFont typeface="Arial" panose="020B0604020202020204" pitchFamily="34" charset="0"/>
              <a:buChar char="•"/>
            </a:pPr>
            <a:r>
              <a:rPr lang="en-US" b="1" dirty="0">
                <a:latin typeface="Arial" panose="020B0604020202020204" pitchFamily="34" charset="0"/>
              </a:rPr>
              <a:t>Read your Gmail messages </a:t>
            </a:r>
          </a:p>
          <a:p>
            <a:pPr marL="285750" indent="-285750" fontAlgn="base">
              <a:buFont typeface="Arial" panose="020B0604020202020204" pitchFamily="34" charset="0"/>
              <a:buChar char="•"/>
            </a:pPr>
            <a:r>
              <a:rPr lang="en-US" b="1" dirty="0">
                <a:latin typeface="Arial" panose="020B0604020202020204" pitchFamily="34" charset="0"/>
              </a:rPr>
              <a:t>Use Bixby to take a picture or a </a:t>
            </a:r>
            <a:r>
              <a:rPr lang="en-US" b="1" dirty="0" err="1">
                <a:latin typeface="Arial" panose="020B0604020202020204" pitchFamily="34" charset="0"/>
              </a:rPr>
              <a:t>selfie</a:t>
            </a:r>
            <a:r>
              <a:rPr lang="en-US" b="1" dirty="0">
                <a:latin typeface="Arial" panose="020B0604020202020204" pitchFamily="34" charset="0"/>
              </a:rPr>
              <a:t> or change camera </a:t>
            </a:r>
            <a:r>
              <a:rPr lang="en-US" b="1" dirty="0" smtClean="0">
                <a:latin typeface="Arial" panose="020B0604020202020204" pitchFamily="34" charset="0"/>
              </a:rPr>
              <a:t>settings</a:t>
            </a:r>
          </a:p>
          <a:p>
            <a:pPr marL="285750" indent="-285750" fontAlgn="base">
              <a:buFont typeface="Arial" panose="020B0604020202020204" pitchFamily="34" charset="0"/>
              <a:buChar char="•"/>
            </a:pPr>
            <a:r>
              <a:rPr lang="en-US" b="1" dirty="0"/>
              <a:t>Music control</a:t>
            </a:r>
          </a:p>
          <a:p>
            <a:pPr marL="285750" indent="-285750" fontAlgn="base">
              <a:buFont typeface="Arial" panose="020B0604020202020204" pitchFamily="34" charset="0"/>
              <a:buChar char="•"/>
            </a:pPr>
            <a:r>
              <a:rPr lang="en-US" b="1" dirty="0"/>
              <a:t>Manage apps </a:t>
            </a:r>
          </a:p>
        </p:txBody>
      </p:sp>
    </p:spTree>
    <p:extLst>
      <p:ext uri="{BB962C8B-B14F-4D97-AF65-F5344CB8AC3E}">
        <p14:creationId xmlns:p14="http://schemas.microsoft.com/office/powerpoint/2010/main" val="1160736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sp>
        <p:nvSpPr>
          <p:cNvPr id="5" name="AutoShape 2" descr="Wala na Finish na - Kamusta na kayo ng GF mo? | Faceboo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7921" y="872197"/>
            <a:ext cx="5804079" cy="5486400"/>
          </a:xfrm>
          <a:prstGeom prst="rect">
            <a:avLst/>
          </a:prstGeom>
        </p:spPr>
      </p:pic>
    </p:spTree>
    <p:extLst>
      <p:ext uri="{BB962C8B-B14F-4D97-AF65-F5344CB8AC3E}">
        <p14:creationId xmlns:p14="http://schemas.microsoft.com/office/powerpoint/2010/main" val="3655168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87921" cy="6858000"/>
          </a:xfrm>
          <a:prstGeom prst="rect">
            <a:avLst/>
          </a:prstGeom>
        </p:spPr>
      </p:pic>
      <p:pic>
        <p:nvPicPr>
          <p:cNvPr id="2050" name="Picture 2" descr="Avengers: Dr. Johnny Sins meme - You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7921" y="0"/>
            <a:ext cx="5804079" cy="45016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527409" y="4797083"/>
            <a:ext cx="5664591" cy="1569660"/>
          </a:xfrm>
          <a:prstGeom prst="rect">
            <a:avLst/>
          </a:prstGeom>
          <a:noFill/>
        </p:spPr>
        <p:txBody>
          <a:bodyPr wrap="square" rtlCol="0">
            <a:spAutoFit/>
          </a:bodyPr>
          <a:lstStyle/>
          <a:p>
            <a:pPr algn="ctr"/>
            <a:r>
              <a:rPr lang="en-US" sz="3200" dirty="0" smtClean="0">
                <a:latin typeface="Century" panose="02040604050505020304" pitchFamily="18" charset="0"/>
              </a:rPr>
              <a:t>THANK YOU FOR WATCHING AND LISTENING </a:t>
            </a:r>
            <a:r>
              <a:rPr lang="en-US" sz="3200" dirty="0" smtClean="0">
                <a:latin typeface="Century" panose="02040604050505020304" pitchFamily="18" charset="0"/>
                <a:sym typeface="Wingdings" panose="05000000000000000000" pitchFamily="2" charset="2"/>
              </a:rPr>
              <a:t>!</a:t>
            </a:r>
            <a:endParaRPr lang="en-US" sz="3200" dirty="0">
              <a:latin typeface="Century" panose="02040604050505020304" pitchFamily="18" charset="0"/>
            </a:endParaRPr>
          </a:p>
        </p:txBody>
      </p:sp>
    </p:spTree>
    <p:extLst>
      <p:ext uri="{BB962C8B-B14F-4D97-AF65-F5344CB8AC3E}">
        <p14:creationId xmlns:p14="http://schemas.microsoft.com/office/powerpoint/2010/main" val="3983219425"/>
      </p:ext>
    </p:extLst>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906</Words>
  <Application>Microsoft Office PowerPoint</Application>
  <PresentationFormat>Widescreen</PresentationFormat>
  <Paragraphs>85</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Century</vt:lpstr>
      <vt:lpstr>Century Schoolbook</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11</cp:revision>
  <dcterms:created xsi:type="dcterms:W3CDTF">2021-10-18T13:42:34Z</dcterms:created>
  <dcterms:modified xsi:type="dcterms:W3CDTF">2021-10-19T03:12:24Z</dcterms:modified>
</cp:coreProperties>
</file>